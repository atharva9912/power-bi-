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88" r:id="rId21"/>
    <p:sldId id="278" r:id="rId22"/>
    <p:sldId id="284" r:id="rId23"/>
    <p:sldId id="279" r:id="rId24"/>
    <p:sldId id="280" r:id="rId25"/>
    <p:sldId id="281" r:id="rId26"/>
    <p:sldId id="282" r:id="rId27"/>
    <p:sldId id="283" r:id="rId28"/>
    <p:sldId id="285" r:id="rId29"/>
    <p:sldId id="286" r:id="rId30"/>
    <p:sldId id="259" r:id="rId31"/>
  </p:sldIdLst>
  <p:sldSz cx="12192000" cy="6858000"/>
  <p:notesSz cx="6858000" cy="9144000"/>
  <p:embeddedFontLst>
    <p:embeddedFont>
      <p:font typeface="Algerian" panose="04020705040A02060702" pitchFamily="82" charset="0"/>
      <p:regular r:id="rId33"/>
    </p:embeddedFont>
    <p:embeddedFont>
      <p:font typeface="Baskerville Old Face" panose="02020602080505020303" pitchFamily="18" charset="0"/>
      <p:regular r:id="rId34"/>
    </p:embeddedFont>
    <p:embeddedFont>
      <p:font typeface="Bookman Old Style" panose="02050604050505020204" pitchFamily="18" charset="0"/>
      <p:regular r:id="rId35"/>
      <p:bold r:id="rId36"/>
      <p:italic r:id="rId37"/>
      <p:boldItalic r:id="rId38"/>
    </p:embeddedFont>
    <p:embeddedFont>
      <p:font typeface="Lato Black" panose="020F0502020204030203" pitchFamily="34" charset="0"/>
      <p:bold r:id="rId39"/>
      <p:boldItalic r:id="rId40"/>
    </p:embeddedFont>
    <p:embeddedFont>
      <p:font typeface="Libre Baskerville" panose="02000000000000000000" pitchFamily="2" charset="0"/>
      <p:regular r:id="rId41"/>
      <p:bold r:id="rId42"/>
      <p: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shilu.as@gmail.com" userId="d876f11c092c49f0" providerId="LiveId" clId="{507D4FB9-DA52-41D7-8737-705BD7D2FE61}"/>
    <pc:docChg chg="undo custSel addSld delSld modSld">
      <pc:chgData name="athshilu.as@gmail.com" userId="d876f11c092c49f0" providerId="LiveId" clId="{507D4FB9-DA52-41D7-8737-705BD7D2FE61}" dt="2026-02-12T02:09:36.769" v="112" actId="108"/>
      <pc:docMkLst>
        <pc:docMk/>
      </pc:docMkLst>
      <pc:sldChg chg="addSp delSp modSp mod">
        <pc:chgData name="athshilu.as@gmail.com" userId="d876f11c092c49f0" providerId="LiveId" clId="{507D4FB9-DA52-41D7-8737-705BD7D2FE61}" dt="2026-02-12T01:55:21.468" v="22" actId="1076"/>
        <pc:sldMkLst>
          <pc:docMk/>
          <pc:sldMk cId="1571638912" sldId="282"/>
        </pc:sldMkLst>
        <pc:picChg chg="add mod">
          <ac:chgData name="athshilu.as@gmail.com" userId="d876f11c092c49f0" providerId="LiveId" clId="{507D4FB9-DA52-41D7-8737-705BD7D2FE61}" dt="2026-02-12T01:51:15.208" v="11" actId="1076"/>
          <ac:picMkLst>
            <pc:docMk/>
            <pc:sldMk cId="1571638912" sldId="282"/>
            <ac:picMk id="3" creationId="{F8A0FC6A-0D84-CD53-0641-4D4A391CF051}"/>
          </ac:picMkLst>
        </pc:picChg>
        <pc:picChg chg="del">
          <ac:chgData name="athshilu.as@gmail.com" userId="d876f11c092c49f0" providerId="LiveId" clId="{507D4FB9-DA52-41D7-8737-705BD7D2FE61}" dt="2026-02-12T01:47:53.454" v="0" actId="478"/>
          <ac:picMkLst>
            <pc:docMk/>
            <pc:sldMk cId="1571638912" sldId="282"/>
            <ac:picMk id="7" creationId="{00000000-0000-0000-0000-000000000000}"/>
          </ac:picMkLst>
        </pc:picChg>
        <pc:picChg chg="del mod">
          <ac:chgData name="athshilu.as@gmail.com" userId="d876f11c092c49f0" providerId="LiveId" clId="{507D4FB9-DA52-41D7-8737-705BD7D2FE61}" dt="2026-02-12T01:54:22.897" v="13" actId="478"/>
          <ac:picMkLst>
            <pc:docMk/>
            <pc:sldMk cId="1571638912" sldId="282"/>
            <ac:picMk id="8" creationId="{00000000-0000-0000-0000-000000000000}"/>
          </ac:picMkLst>
        </pc:picChg>
        <pc:picChg chg="add mod">
          <ac:chgData name="athshilu.as@gmail.com" userId="d876f11c092c49f0" providerId="LiveId" clId="{507D4FB9-DA52-41D7-8737-705BD7D2FE61}" dt="2026-02-12T01:55:21.468" v="22" actId="1076"/>
          <ac:picMkLst>
            <pc:docMk/>
            <pc:sldMk cId="1571638912" sldId="282"/>
            <ac:picMk id="10" creationId="{929A5B04-A892-C10E-ECCF-CECE5EB12953}"/>
          </ac:picMkLst>
        </pc:picChg>
        <pc:picChg chg="add del">
          <ac:chgData name="athshilu.as@gmail.com" userId="d876f11c092c49f0" providerId="LiveId" clId="{507D4FB9-DA52-41D7-8737-705BD7D2FE61}" dt="2026-02-12T01:55:04.318" v="21" actId="22"/>
          <ac:picMkLst>
            <pc:docMk/>
            <pc:sldMk cId="1571638912" sldId="282"/>
            <ac:picMk id="12" creationId="{7006D828-F701-E75B-9C2F-F38267FCDE83}"/>
          </ac:picMkLst>
        </pc:picChg>
      </pc:sldChg>
      <pc:sldChg chg="new del">
        <pc:chgData name="athshilu.as@gmail.com" userId="d876f11c092c49f0" providerId="LiveId" clId="{507D4FB9-DA52-41D7-8737-705BD7D2FE61}" dt="2026-02-12T01:58:51.632" v="25" actId="47"/>
        <pc:sldMkLst>
          <pc:docMk/>
          <pc:sldMk cId="4002836508" sldId="287"/>
        </pc:sldMkLst>
      </pc:sldChg>
      <pc:sldChg chg="addSp delSp modSp new mod">
        <pc:chgData name="athshilu.as@gmail.com" userId="d876f11c092c49f0" providerId="LiveId" clId="{507D4FB9-DA52-41D7-8737-705BD7D2FE61}" dt="2026-02-12T02:09:36.769" v="112" actId="108"/>
        <pc:sldMkLst>
          <pc:docMk/>
          <pc:sldMk cId="1370699461" sldId="288"/>
        </pc:sldMkLst>
        <pc:spChg chg="del">
          <ac:chgData name="athshilu.as@gmail.com" userId="d876f11c092c49f0" providerId="LiveId" clId="{507D4FB9-DA52-41D7-8737-705BD7D2FE61}" dt="2026-02-12T01:59:15.616" v="26" actId="478"/>
          <ac:spMkLst>
            <pc:docMk/>
            <pc:sldMk cId="1370699461" sldId="288"/>
            <ac:spMk id="2" creationId="{73D80FA1-4401-D50A-D46C-EFEDBC429C8A}"/>
          </ac:spMkLst>
        </pc:spChg>
        <pc:spChg chg="del">
          <ac:chgData name="athshilu.as@gmail.com" userId="d876f11c092c49f0" providerId="LiveId" clId="{507D4FB9-DA52-41D7-8737-705BD7D2FE61}" dt="2026-02-12T01:59:18.481" v="27" actId="478"/>
          <ac:spMkLst>
            <pc:docMk/>
            <pc:sldMk cId="1370699461" sldId="288"/>
            <ac:spMk id="3" creationId="{C827349F-19A8-37C1-10CE-30060E14924A}"/>
          </ac:spMkLst>
        </pc:spChg>
        <pc:spChg chg="add del mod">
          <ac:chgData name="athshilu.as@gmail.com" userId="d876f11c092c49f0" providerId="LiveId" clId="{507D4FB9-DA52-41D7-8737-705BD7D2FE61}" dt="2026-02-12T01:59:51.478" v="33"/>
          <ac:spMkLst>
            <pc:docMk/>
            <pc:sldMk cId="1370699461" sldId="288"/>
            <ac:spMk id="4" creationId="{C69CF9CB-4A65-0D79-ED01-E0EE8ABE2D7B}"/>
          </ac:spMkLst>
        </pc:spChg>
        <pc:spChg chg="add mod">
          <ac:chgData name="athshilu.as@gmail.com" userId="d876f11c092c49f0" providerId="LiveId" clId="{507D4FB9-DA52-41D7-8737-705BD7D2FE61}" dt="2026-02-12T02:03:14.635" v="95" actId="14100"/>
          <ac:spMkLst>
            <pc:docMk/>
            <pc:sldMk cId="1370699461" sldId="288"/>
            <ac:spMk id="5" creationId="{49DD45D6-71B3-B8D5-CEE3-8E63AAC14186}"/>
          </ac:spMkLst>
        </pc:spChg>
        <pc:spChg chg="add mod">
          <ac:chgData name="athshilu.as@gmail.com" userId="d876f11c092c49f0" providerId="LiveId" clId="{507D4FB9-DA52-41D7-8737-705BD7D2FE61}" dt="2026-02-12T02:07:09.599" v="100"/>
          <ac:spMkLst>
            <pc:docMk/>
            <pc:sldMk cId="1370699461" sldId="288"/>
            <ac:spMk id="10" creationId="{76876A1F-BC70-F9F9-9D23-7D555B0D753E}"/>
          </ac:spMkLst>
        </pc:spChg>
        <pc:spChg chg="add mod">
          <ac:chgData name="athshilu.as@gmail.com" userId="d876f11c092c49f0" providerId="LiveId" clId="{507D4FB9-DA52-41D7-8737-705BD7D2FE61}" dt="2026-02-12T02:07:38.723" v="102" actId="1076"/>
          <ac:spMkLst>
            <pc:docMk/>
            <pc:sldMk cId="1370699461" sldId="288"/>
            <ac:spMk id="11" creationId="{2E1A6828-2D2D-FA88-7B7F-0E5951F91B7C}"/>
          </ac:spMkLst>
        </pc:spChg>
        <pc:picChg chg="add mod">
          <ac:chgData name="athshilu.as@gmail.com" userId="d876f11c092c49f0" providerId="LiveId" clId="{507D4FB9-DA52-41D7-8737-705BD7D2FE61}" dt="2026-02-12T02:09:27.879" v="111" actId="1582"/>
          <ac:picMkLst>
            <pc:docMk/>
            <pc:sldMk cId="1370699461" sldId="288"/>
            <ac:picMk id="7" creationId="{A8B40036-FC49-10B4-22FD-0217033712A6}"/>
          </ac:picMkLst>
        </pc:picChg>
        <pc:picChg chg="add del">
          <ac:chgData name="athshilu.as@gmail.com" userId="d876f11c092c49f0" providerId="LiveId" clId="{507D4FB9-DA52-41D7-8737-705BD7D2FE61}" dt="2026-02-12T02:07:02.305" v="99" actId="22"/>
          <ac:picMkLst>
            <pc:docMk/>
            <pc:sldMk cId="1370699461" sldId="288"/>
            <ac:picMk id="9" creationId="{C53AC5FA-EA5E-1F41-9204-E3EDF90E6CC2}"/>
          </ac:picMkLst>
        </pc:picChg>
        <pc:picChg chg="add mod">
          <ac:chgData name="athshilu.as@gmail.com" userId="d876f11c092c49f0" providerId="LiveId" clId="{507D4FB9-DA52-41D7-8737-705BD7D2FE61}" dt="2026-02-12T02:09:36.769" v="112" actId="108"/>
          <ac:picMkLst>
            <pc:docMk/>
            <pc:sldMk cId="1370699461" sldId="288"/>
            <ac:picMk id="13" creationId="{28CBDE22-D03B-74DB-A8B3-69DE57285DF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68466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2384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6567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0361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79690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tharva-shirwalkar-5a507135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tharva9912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-73893"/>
            <a:ext cx="12190815" cy="61976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2" y="3676755"/>
            <a:ext cx="7246189" cy="107717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3200" b="1" dirty="0">
                <a:solidFill>
                  <a:schemeClr val="accent1"/>
                </a:solidFill>
                <a:latin typeface="Algerian" panose="04020705040A02060702" pitchFamily="82" charset="0"/>
              </a:rPr>
              <a:t>Employee Management</a:t>
            </a:r>
          </a:p>
          <a:p>
            <a:pPr algn="ctr"/>
            <a:r>
              <a:rPr lang="en-IN" sz="3200" b="1" dirty="0">
                <a:solidFill>
                  <a:schemeClr val="accent1"/>
                </a:solidFill>
                <a:latin typeface="Algerian" panose="04020705040A02060702" pitchFamily="82" charset="0"/>
              </a:rPr>
              <a:t>System</a:t>
            </a:r>
            <a:endParaRPr lang="en-IN" sz="3200" b="1" dirty="0">
              <a:solidFill>
                <a:schemeClr val="accent1"/>
              </a:solidFill>
              <a:effectLst/>
              <a:latin typeface="Algerian" panose="04020705040A02060702" pitchFamily="8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980705" y="5070513"/>
            <a:ext cx="2230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Baskerville Old Face" panose="02020602080505020303" pitchFamily="18" charset="0"/>
              </a:rPr>
              <a:t>Prepared by:</a:t>
            </a:r>
          </a:p>
          <a:p>
            <a:pPr algn="ctr"/>
            <a:r>
              <a:rPr lang="en-US" sz="1600" dirty="0">
                <a:latin typeface="Baskerville Old Face" panose="02020602080505020303" pitchFamily="18" charset="0"/>
              </a:rPr>
              <a:t>Atharva Shirwalkar</a:t>
            </a:r>
          </a:p>
          <a:p>
            <a:pPr algn="ctr"/>
            <a:r>
              <a:rPr lang="en-US" sz="1600" dirty="0">
                <a:latin typeface="Baskerville Old Face" panose="02020602080505020303" pitchFamily="18" charset="0"/>
              </a:rPr>
              <a:t>Batch no: 361</a:t>
            </a:r>
            <a:endParaRPr lang="en-IN" sz="1600" dirty="0">
              <a:latin typeface="Baskerville Old Face" panose="020206020805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424796"/>
            <a:ext cx="2230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Baskerville Old Face" panose="02020602080505020303" pitchFamily="18" charset="0"/>
              </a:rPr>
              <a:t>Mentored by: Manisha</a:t>
            </a:r>
            <a:endParaRPr lang="en-IN" sz="1600" dirty="0"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4;p3"/>
          <p:cNvSpPr txBox="1"/>
          <p:nvPr/>
        </p:nvSpPr>
        <p:spPr>
          <a:xfrm>
            <a:off x="814154" y="1166862"/>
            <a:ext cx="9036855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Background ? </a:t>
            </a:r>
            <a:endParaRPr lang="en-IN" sz="16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Atharva Shirwalkar: Bachelor of Engineering (Mechanical)</a:t>
            </a:r>
          </a:p>
          <a:p>
            <a:pPr lvl="0" algn="just">
              <a:buClr>
                <a:schemeClr val="dk1"/>
              </a:buClr>
              <a:buSzPts val="1800"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lang="en-IN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did I </a:t>
            </a: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want to learn Data Science?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 working professional in quality department, I had to deal with large amounts of data on daily basis.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profile required me to make data driven decisions for a smooth functionality of supply chain.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hands-on exposure gradually ignited my interest in understanding how data could be leveraged more efficiently and intelligently.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experiences helped me to find my passion in this profession.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Any work experience?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Atharva Shirwalkar: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1.5+ Years Experience as </a:t>
            </a: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Quality Control Engineer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Share your linkedin and github profile urls: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Atharva’s LinkedIN 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3" tooltip="https://www.linkedin.com/in/atharva-shirwalkar-5a5071350"/>
              </a:rPr>
              <a:t>https://www.linkedin.com/in/atharva-shirwalkar-5a5071350</a:t>
            </a:r>
            <a:endParaRPr lang="en-IN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Atharva’s GitHub: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https://github.com/Atharva9912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925"/>
            <a:ext cx="2329873" cy="660111"/>
          </a:xfrm>
        </p:spPr>
        <p:txBody>
          <a:bodyPr>
            <a:normAutofit/>
          </a:bodyPr>
          <a:lstStyle/>
          <a:p>
            <a:pPr lvl="0">
              <a:lnSpc>
                <a:spcPct val="80000"/>
              </a:lnSpc>
            </a:pPr>
            <a:r>
              <a:rPr lang="en-IN" sz="2800" u="sng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Objective</a:t>
            </a:r>
            <a:r>
              <a:rPr lang="en-IN" sz="28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lang="en-IN" sz="2800" dirty="0">
              <a:solidFill>
                <a:srgbClr val="FF0000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22036"/>
            <a:ext cx="10448636" cy="322349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The objective of this project is to design and implement an </a:t>
            </a:r>
            <a:r>
              <a:rPr lang="en-US" sz="1600" b="1" dirty="0"/>
              <a:t>Employee Management System</a:t>
            </a:r>
            <a:r>
              <a:rPr lang="en-US" sz="1600" dirty="0"/>
              <a:t> that efficiently stores and manages employee-related data within an organization. This system tracks various aspects of employee information, including personal details, job roles, salary structures, qualifications, leave records, and payroll data.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en-US" sz="16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System integrity and consistency was achieved by </a:t>
            </a:r>
            <a:r>
              <a:rPr lang="en-US" sz="1600" dirty="0"/>
              <a:t>using relational tables with appropriate foreign keys and cascading actions.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en-US" sz="16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This system allows easy management and querying of employee data, providing insights such as payroll calculation, leave tracking, and department-specific job roles.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en-US" sz="16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The goal is to streamline HR operations, ensuring that all relevant employee data is accessible and accurately updated across different modules.</a:t>
            </a:r>
            <a:endParaRPr lang="en-IN" sz="16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4451927"/>
            <a:ext cx="2329873" cy="660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en-IN" sz="2800" u="sng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Tools used</a:t>
            </a:r>
            <a:r>
              <a:rPr lang="en-IN" sz="28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112038"/>
            <a:ext cx="57103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MySQL Workbench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PowerPoint</a:t>
            </a:r>
          </a:p>
        </p:txBody>
      </p:sp>
    </p:spTree>
    <p:extLst>
      <p:ext uri="{BB962C8B-B14F-4D97-AF65-F5344CB8AC3E}">
        <p14:creationId xmlns:p14="http://schemas.microsoft.com/office/powerpoint/2010/main" val="3983257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88034"/>
            <a:ext cx="2246744" cy="558511"/>
          </a:xfrm>
        </p:spPr>
        <p:txBody>
          <a:bodyPr>
            <a:normAutofit/>
          </a:bodyPr>
          <a:lstStyle/>
          <a:p>
            <a:pPr marL="457200" lvl="0" indent="-431800">
              <a:spcBef>
                <a:spcPts val="1000"/>
              </a:spcBef>
            </a:pPr>
            <a:r>
              <a:rPr lang="en-IN" sz="2400" b="1" u="sng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ER DIAGRAM</a:t>
            </a:r>
            <a:r>
              <a:rPr lang="en-IN" sz="2400" b="1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lang="en-IN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740" y="858981"/>
            <a:ext cx="7084460" cy="553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21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08891" y="318944"/>
            <a:ext cx="4084782" cy="558511"/>
          </a:xfrm>
        </p:spPr>
        <p:txBody>
          <a:bodyPr>
            <a:normAutofit fontScale="90000"/>
          </a:bodyPr>
          <a:lstStyle/>
          <a:p>
            <a:pPr marL="457200" lvl="0" indent="-431800">
              <a:spcBef>
                <a:spcPts val="1000"/>
              </a:spcBef>
            </a:pPr>
            <a:r>
              <a:rPr lang="en-IN" sz="2400" b="1" u="sng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KEY ANALYSIS QUESTIONS</a:t>
            </a:r>
            <a:r>
              <a:rPr lang="en-IN" sz="2400" b="1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lang="en-IN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925944" y="1270821"/>
            <a:ext cx="10093038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1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accent1"/>
                </a:solidFill>
                <a:latin typeface="Arial" panose="020B0604020202020204" pitchFamily="34" charset="0"/>
              </a:rPr>
              <a:t>EMPLOYEE INSIGHTS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</a:rPr>
              <a:t>JOB ROLE AND DEPARTMENT ANALYSIS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</a:rPr>
              <a:t>QUALIFICATION AND SKILLS ANALYSIS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</a:rPr>
              <a:t>LEAVE AND ABSENCE PATTERNS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</a:rPr>
              <a:t>PAYROLL AND COMPENSATION ANALYSIS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accent1"/>
                </a:solidFill>
                <a:latin typeface="Arial" panose="020B0604020202020204" pitchFamily="34" charset="0"/>
              </a:rPr>
              <a:t>EMPLOYEE PERFORMANCE AND GROWTH</a:t>
            </a:r>
          </a:p>
        </p:txBody>
      </p:sp>
    </p:spTree>
    <p:extLst>
      <p:ext uri="{BB962C8B-B14F-4D97-AF65-F5344CB8AC3E}">
        <p14:creationId xmlns:p14="http://schemas.microsoft.com/office/powerpoint/2010/main" val="2348090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891" y="1012825"/>
            <a:ext cx="10515600" cy="510164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accent1"/>
                </a:solidFill>
              </a:rPr>
              <a:t>How many unique employees are currently in the system?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b="1" u="sng" dirty="0"/>
          </a:p>
          <a:p>
            <a:pPr marL="114300" indent="0">
              <a:buNone/>
            </a:pPr>
            <a:endParaRPr lang="en-US" sz="1800" b="1" u="sng" dirty="0"/>
          </a:p>
          <a:p>
            <a:pPr marL="114300" indent="0">
              <a:buNone/>
            </a:pPr>
            <a:r>
              <a:rPr lang="en-US" sz="1800" b="1" u="sng" dirty="0"/>
              <a:t>Output: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08891" y="175058"/>
            <a:ext cx="4943764" cy="558511"/>
          </a:xfrm>
        </p:spPr>
        <p:txBody>
          <a:bodyPr>
            <a:normAutofit fontScale="90000"/>
          </a:bodyPr>
          <a:lstStyle/>
          <a:p>
            <a:pPr marL="457200" lvl="0" indent="-43180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IN" sz="2400" b="1" u="sng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EMPOYEE INSIGHT PROBLEMS</a:t>
            </a:r>
            <a:r>
              <a:rPr lang="en-IN" sz="2400" b="1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lang="en-IN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91" y="2280095"/>
            <a:ext cx="7102764" cy="6293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8982" r="66628" b="65731"/>
          <a:stretch/>
        </p:blipFill>
        <p:spPr>
          <a:xfrm>
            <a:off x="2309091" y="4625253"/>
            <a:ext cx="3475188" cy="120996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522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02491" y="144606"/>
            <a:ext cx="10515600" cy="645015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Which departments have the highest number of employees?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u="sng" dirty="0"/>
              <a:t>Output: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813" y="5190836"/>
            <a:ext cx="2718112" cy="1182255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813" y="1413397"/>
            <a:ext cx="4206478" cy="2604421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209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144606"/>
            <a:ext cx="10515600" cy="645015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What is the average salary per department?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endParaRPr lang="en-US" sz="1800" b="1" dirty="0"/>
          </a:p>
          <a:p>
            <a:pPr marL="114300" indent="0">
              <a:buNone/>
            </a:pPr>
            <a:r>
              <a:rPr lang="en-US" sz="1800" b="1" u="sng" dirty="0"/>
              <a:t>Output: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579" y="4567668"/>
            <a:ext cx="2779293" cy="2027096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579" y="1319727"/>
            <a:ext cx="4328535" cy="2072820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0995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107660"/>
            <a:ext cx="10448636" cy="55819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Who are the top 5 highest-paid employees?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839527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527" y="2262869"/>
            <a:ext cx="3168072" cy="2306170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64" y="2509831"/>
            <a:ext cx="5181600" cy="1812245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9562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70714"/>
            <a:ext cx="10448636" cy="55819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What is the total salary expenditure across the company?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6839527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2854036"/>
            <a:ext cx="4451926" cy="1043709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526" y="2851834"/>
            <a:ext cx="3034303" cy="1119802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9034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idx="1"/>
          </p:nvPr>
        </p:nvSpPr>
        <p:spPr>
          <a:xfrm>
            <a:off x="302491" y="107659"/>
            <a:ext cx="10448636" cy="55819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How many different job roles exist in each department?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708891" y="1893454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6218290" y="1893454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08891" y="152689"/>
            <a:ext cx="6994236" cy="558511"/>
          </a:xfrm>
        </p:spPr>
        <p:txBody>
          <a:bodyPr>
            <a:normAutofit fontScale="90000"/>
          </a:bodyPr>
          <a:lstStyle/>
          <a:p>
            <a:pPr marL="457200" lvl="0" indent="-43180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2200" b="1" u="sng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JOB ROLE AND DEPARTMENT ANALYSIS PROBLEMS</a:t>
            </a:r>
            <a:r>
              <a:rPr lang="en-US" sz="2200" b="1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lang="en-IN" sz="22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290" y="2763758"/>
            <a:ext cx="2638465" cy="2115406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91" y="3188946"/>
            <a:ext cx="4625741" cy="1265030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1740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02491" y="70714"/>
            <a:ext cx="10448636" cy="55819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What is the average salary range per department?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6839527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35" y="2349090"/>
            <a:ext cx="5056392" cy="2342983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527" y="2369088"/>
            <a:ext cx="2636982" cy="2342983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481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70714"/>
            <a:ext cx="10448636" cy="55819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Which job roles offer the highest salary?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2499978"/>
            <a:ext cx="4221018" cy="1942713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6839527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527" y="2567237"/>
            <a:ext cx="2849418" cy="1808193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2426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70714"/>
            <a:ext cx="10448636" cy="55819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Which departments have the highest total salary allocation?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2632736"/>
            <a:ext cx="4827472" cy="2336428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6839527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527" y="2743573"/>
            <a:ext cx="3077531" cy="2125489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4242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33769"/>
            <a:ext cx="10448636" cy="55819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How many employees have at least one qualification listed?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86691" y="1782618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913418" y="1782618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08890" y="189635"/>
            <a:ext cx="6864927" cy="558511"/>
          </a:xfrm>
        </p:spPr>
        <p:txBody>
          <a:bodyPr>
            <a:normAutofit fontScale="90000"/>
          </a:bodyPr>
          <a:lstStyle/>
          <a:p>
            <a:pPr marL="457200" lvl="0" indent="-43180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2200" b="1" u="sng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QUALIFICATION AND SKILLS ANALYSIS PROBLEMS</a:t>
            </a:r>
            <a:r>
              <a:rPr lang="en-US" sz="2200" b="1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lang="en-IN" sz="22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91" y="2954539"/>
            <a:ext cx="4731327" cy="1756005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436" y="2581936"/>
            <a:ext cx="2341848" cy="2575099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5193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02491" y="120073"/>
            <a:ext cx="10448636" cy="549563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Which positions require the most qualifications?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6839527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2717556"/>
            <a:ext cx="4324273" cy="1752843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527" y="2445572"/>
            <a:ext cx="2778616" cy="2441027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5957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120073"/>
            <a:ext cx="10448636" cy="54586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Which employees have the highest number of qualifications?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839527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2824738"/>
            <a:ext cx="4569413" cy="2087668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527" y="2336307"/>
            <a:ext cx="2314933" cy="3064530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5332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08891" y="115744"/>
            <a:ext cx="6107545" cy="558511"/>
          </a:xfrm>
        </p:spPr>
        <p:txBody>
          <a:bodyPr>
            <a:normAutofit fontScale="90000"/>
          </a:bodyPr>
          <a:lstStyle/>
          <a:p>
            <a:pPr marL="457200" lvl="0" indent="-43180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2200" b="1" u="sng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LEAVE AND ABSENCE PATTERN PROBLEMS</a:t>
            </a:r>
            <a:r>
              <a:rPr lang="en-US" sz="2200" b="1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lang="en-IN" sz="2200" b="1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228600" y="748146"/>
            <a:ext cx="10448636" cy="558193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accent1"/>
                </a:solidFill>
              </a:rPr>
              <a:t>Which year had the most employees taking leaves?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708891" y="1634897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6756399" y="1634897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91" y="2890980"/>
            <a:ext cx="4888345" cy="1976584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436" y="3290180"/>
            <a:ext cx="3278909" cy="1178184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2638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92364"/>
            <a:ext cx="10448636" cy="59851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What is the average number of leave days taken by its employees per department?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793346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2422981"/>
            <a:ext cx="5310909" cy="2860219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346" y="2606883"/>
            <a:ext cx="2914072" cy="2561821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2041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DD45D6-71B3-B8D5-CEE3-8E63AAC14186}"/>
              </a:ext>
            </a:extLst>
          </p:cNvPr>
          <p:cNvSpPr txBox="1"/>
          <p:nvPr/>
        </p:nvSpPr>
        <p:spPr>
          <a:xfrm>
            <a:off x="353960" y="294967"/>
            <a:ext cx="1145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Which</a:t>
            </a:r>
            <a:r>
              <a:rPr lang="en-US" dirty="0"/>
              <a:t> </a:t>
            </a:r>
            <a:r>
              <a:rPr lang="en-US" sz="180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employees</a:t>
            </a:r>
            <a:r>
              <a:rPr lang="en-US" dirty="0"/>
              <a:t> </a:t>
            </a:r>
            <a:r>
              <a:rPr lang="en-US" sz="1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have</a:t>
            </a:r>
            <a:r>
              <a:rPr lang="en-US" dirty="0"/>
              <a:t> </a:t>
            </a:r>
            <a:r>
              <a:rPr lang="en-US" sz="180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taken</a:t>
            </a:r>
            <a:r>
              <a:rPr lang="en-US" dirty="0"/>
              <a:t> </a:t>
            </a:r>
            <a:r>
              <a:rPr lang="en-US" sz="180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the</a:t>
            </a:r>
            <a:r>
              <a:rPr lang="en-US" dirty="0"/>
              <a:t> </a:t>
            </a:r>
            <a:r>
              <a:rPr lang="en-US" sz="180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most</a:t>
            </a:r>
            <a:r>
              <a:rPr lang="en-US" dirty="0"/>
              <a:t> </a:t>
            </a:r>
            <a:r>
              <a:rPr lang="en-US" sz="180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leaves?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B40036-FC49-10B4-22FD-021703371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2820417"/>
            <a:ext cx="4611862" cy="121716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876A1F-BC70-F9F9-9D23-7D555B0D753E}"/>
              </a:ext>
            </a:extLst>
          </p:cNvPr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1A6828-2D2D-FA88-7B7F-0E5951F91B7C}"/>
              </a:ext>
            </a:extLst>
          </p:cNvPr>
          <p:cNvSpPr txBox="1"/>
          <p:nvPr/>
        </p:nvSpPr>
        <p:spPr>
          <a:xfrm>
            <a:off x="6636330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CBDE22-D03B-74DB-A8B3-69DE57285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330" y="2803035"/>
            <a:ext cx="1767993" cy="123454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0699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92364"/>
            <a:ext cx="10448636" cy="59851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What is the total number of leave days taken company-wide?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793346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3244281"/>
            <a:ext cx="4373417" cy="773538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346" y="3151918"/>
            <a:ext cx="2523789" cy="94902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567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64655"/>
            <a:ext cx="11723254" cy="597592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How do leave days correlate with payroll amounts?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793346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346" y="2433088"/>
            <a:ext cx="5029636" cy="2118544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64" y="2154104"/>
            <a:ext cx="5144654" cy="2676513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7958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33769"/>
            <a:ext cx="10448636" cy="558193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What is the total monthly payroll processed?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08891" y="92687"/>
            <a:ext cx="7280564" cy="558511"/>
          </a:xfrm>
        </p:spPr>
        <p:txBody>
          <a:bodyPr>
            <a:normAutofit fontScale="90000"/>
          </a:bodyPr>
          <a:lstStyle/>
          <a:p>
            <a:pPr marL="457200" lvl="0" indent="-43180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2200" b="1" u="sng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PAYROLL AND COMPENSATION ANALYSIS PROBLEMS</a:t>
            </a:r>
            <a:r>
              <a:rPr lang="en-US" sz="2200" b="1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lang="en-IN" sz="2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08891" y="1801090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6821055" y="1801090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91" y="3459455"/>
            <a:ext cx="4528128" cy="924627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055" y="3377720"/>
            <a:ext cx="2581563" cy="1088096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4909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92364"/>
            <a:ext cx="10448636" cy="59851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What is the average bonus given per department?</a:t>
            </a:r>
            <a:br>
              <a:rPr lang="en-US" sz="1800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793346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2924783"/>
            <a:ext cx="5080000" cy="1490198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346" y="2323488"/>
            <a:ext cx="2760136" cy="2703109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7389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129309"/>
            <a:ext cx="10448636" cy="591127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Which department receives the highest total bonuses?</a:t>
            </a:r>
            <a:endParaRPr lang="en-US" sz="18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793346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3018702"/>
            <a:ext cx="4608946" cy="1460934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346" y="3275239"/>
            <a:ext cx="2509597" cy="941098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5071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101600"/>
            <a:ext cx="10448636" cy="593898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What is the average value of total_amount after considering leave deductions?</a:t>
            </a: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03564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793346" y="1025236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0FC6A-0D84-CD53-0641-4D4A391CF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61" y="2440052"/>
            <a:ext cx="5797314" cy="2371783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9A5B04-A892-C10E-ECCF-CECE5EB12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346" y="2911411"/>
            <a:ext cx="2625818" cy="1035178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1638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02491" y="-77068"/>
            <a:ext cx="10448636" cy="61176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Which year had the highest number of employee promotions?</a:t>
            </a: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708891" y="2105891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Query:</a:t>
            </a:r>
            <a:endParaRPr lang="en-IN" sz="1800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6830292" y="2105891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1800" b="1" u="sng" dirty="0"/>
              <a:t>Output:</a:t>
            </a:r>
            <a:endParaRPr lang="en-IN" sz="1800" b="1" u="sng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08891" y="189635"/>
            <a:ext cx="7188200" cy="558511"/>
          </a:xfrm>
        </p:spPr>
        <p:txBody>
          <a:bodyPr>
            <a:normAutofit fontScale="90000"/>
          </a:bodyPr>
          <a:lstStyle/>
          <a:p>
            <a:pPr marL="457200" lvl="0" indent="-431800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2200" b="1" u="sng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EMPLOYEE PERFORMANCE AND GROWTH PROBLEM</a:t>
            </a:r>
            <a:r>
              <a:rPr lang="en-US" sz="2200" b="1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lang="en-IN" sz="22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475" y="3709146"/>
            <a:ext cx="3168072" cy="1097511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91" y="3709146"/>
            <a:ext cx="5036126" cy="1222696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0740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08891" y="189635"/>
            <a:ext cx="3816927" cy="558511"/>
          </a:xfrm>
        </p:spPr>
        <p:txBody>
          <a:bodyPr>
            <a:normAutofit/>
          </a:bodyPr>
          <a:lstStyle/>
          <a:p>
            <a:pPr marL="457200" lvl="0" indent="-431800">
              <a:spcBef>
                <a:spcPts val="1000"/>
              </a:spcBef>
            </a:pPr>
            <a:r>
              <a:rPr lang="en-IN" sz="2400" b="1" u="sng" dirty="0">
                <a:solidFill>
                  <a:schemeClr val="accent1"/>
                </a:solidFill>
                <a:latin typeface="Bookman Old Style" panose="02050604050505020204" pitchFamily="18" charset="0"/>
              </a:rPr>
              <a:t>BUSINESS INSIGHTS</a:t>
            </a:r>
            <a:r>
              <a:rPr lang="en-US" sz="2400" b="1" dirty="0">
                <a:solidFill>
                  <a:schemeClr val="accent1"/>
                </a:solidFill>
                <a:latin typeface="Bookman Old Style" panose="02050604050505020204" pitchFamily="18" charset="0"/>
                <a:sym typeface="Lato Black"/>
              </a:rPr>
              <a:t>:</a:t>
            </a:r>
            <a:endParaRPr lang="en-IN" sz="2400" b="1" dirty="0">
              <a:solidFill>
                <a:schemeClr val="accent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8891" y="960582"/>
            <a:ext cx="9210964" cy="5224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departments have the highest employee count, and also have the highest total salary allocation. But based off the data,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departments have the highest average salaries despite having less employees.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company distributes a whopping total of $52 million dollars in salary expenditure.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departments provide most number of job roles while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the lowest number of job roles.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directors of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departments have the highest annual salaries across the company.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year 2024 saw employees taking most number of leaves where employees from the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departments had the highest percentage of leave days. Hence, there was a negative impact on the salaries of employees of these departments.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had the highest average bonus while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had the lowest average bonus across all departments.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According to the data, most number of promotions were given in the year 2024.</a:t>
            </a:r>
          </a:p>
        </p:txBody>
      </p:sp>
    </p:spTree>
    <p:extLst>
      <p:ext uri="{BB962C8B-B14F-4D97-AF65-F5344CB8AC3E}">
        <p14:creationId xmlns:p14="http://schemas.microsoft.com/office/powerpoint/2010/main" val="3814699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08891" y="245054"/>
            <a:ext cx="3816927" cy="558511"/>
          </a:xfrm>
        </p:spPr>
        <p:txBody>
          <a:bodyPr>
            <a:noAutofit/>
          </a:bodyPr>
          <a:lstStyle/>
          <a:p>
            <a:pPr marL="457200" lvl="0" indent="-431800">
              <a:spcBef>
                <a:spcPts val="1000"/>
              </a:spcBef>
            </a:pPr>
            <a:r>
              <a:rPr lang="en-IN" sz="2800" b="1" u="sng" dirty="0">
                <a:solidFill>
                  <a:schemeClr val="accent1"/>
                </a:solidFill>
                <a:latin typeface="Bookman Old Style" panose="02050604050505020204" pitchFamily="18" charset="0"/>
              </a:rPr>
              <a:t>Conclusion</a:t>
            </a:r>
            <a:r>
              <a:rPr lang="en-US" sz="2800" b="1" dirty="0">
                <a:solidFill>
                  <a:schemeClr val="accent1"/>
                </a:solidFill>
                <a:latin typeface="Bookman Old Style" panose="02050604050505020204" pitchFamily="18" charset="0"/>
                <a:sym typeface="Lato Black"/>
              </a:rPr>
              <a:t>:</a:t>
            </a:r>
            <a:endParaRPr lang="en-IN" sz="2800" b="1" dirty="0">
              <a:solidFill>
                <a:schemeClr val="accent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08891" y="1101926"/>
            <a:ext cx="927561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summary, the company demonstrates targeted compensation strategies and focused investments in core departments, but must address workload balance, leave management, and bonus equity to ensure long-term employee satisfaction and financial sustainability.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779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874</Words>
  <Application>Microsoft Office PowerPoint</Application>
  <PresentationFormat>Widescreen</PresentationFormat>
  <Paragraphs>155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Bookman Old Style</vt:lpstr>
      <vt:lpstr>Lato Black</vt:lpstr>
      <vt:lpstr>Libre Baskerville</vt:lpstr>
      <vt:lpstr>Arial</vt:lpstr>
      <vt:lpstr>Calibri</vt:lpstr>
      <vt:lpstr>Wingdings</vt:lpstr>
      <vt:lpstr>Algerian</vt:lpstr>
      <vt:lpstr>Baskerville Old Face</vt:lpstr>
      <vt:lpstr>Office Theme</vt:lpstr>
      <vt:lpstr>PowerPoint Presentation</vt:lpstr>
      <vt:lpstr>PowerPoint Presentation</vt:lpstr>
      <vt:lpstr>Objective:</vt:lpstr>
      <vt:lpstr>ER DIAGRAM:</vt:lpstr>
      <vt:lpstr>KEY ANALYSIS QUESTIONS:</vt:lpstr>
      <vt:lpstr>EMPOYEE INSIGHT PROBLEMS:</vt:lpstr>
      <vt:lpstr>PowerPoint Presentation</vt:lpstr>
      <vt:lpstr>PowerPoint Presentation</vt:lpstr>
      <vt:lpstr>PowerPoint Presentation</vt:lpstr>
      <vt:lpstr>PowerPoint Presentation</vt:lpstr>
      <vt:lpstr>JOB ROLE AND DEPARTMENT ANALYSIS PROBLEMS:</vt:lpstr>
      <vt:lpstr>PowerPoint Presentation</vt:lpstr>
      <vt:lpstr>PowerPoint Presentation</vt:lpstr>
      <vt:lpstr>PowerPoint Presentation</vt:lpstr>
      <vt:lpstr>QUALIFICATION AND SKILLS ANALYSIS PROBLEMS:</vt:lpstr>
      <vt:lpstr>PowerPoint Presentation</vt:lpstr>
      <vt:lpstr>PowerPoint Presentation</vt:lpstr>
      <vt:lpstr>LEAVE AND ABSENCE PATTERN PROBLEMS:</vt:lpstr>
      <vt:lpstr>PowerPoint Presentation</vt:lpstr>
      <vt:lpstr>PowerPoint Presentation</vt:lpstr>
      <vt:lpstr>PowerPoint Presentation</vt:lpstr>
      <vt:lpstr>PowerPoint Presentation</vt:lpstr>
      <vt:lpstr>PAYROLL AND COMPENSATION ANALYSIS PROBLEMS:</vt:lpstr>
      <vt:lpstr>PowerPoint Presentation</vt:lpstr>
      <vt:lpstr>PowerPoint Presentation</vt:lpstr>
      <vt:lpstr>PowerPoint Presentation</vt:lpstr>
      <vt:lpstr>EMPLOYEE PERFORMANCE AND GROWTH PROBLEM:</vt:lpstr>
      <vt:lpstr>BUSINESS INSIGHTS: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athshilu.as@gmail.com</cp:lastModifiedBy>
  <cp:revision>123</cp:revision>
  <dcterms:created xsi:type="dcterms:W3CDTF">2021-02-16T05:19:01Z</dcterms:created>
  <dcterms:modified xsi:type="dcterms:W3CDTF">2026-02-12T02:09:38Z</dcterms:modified>
</cp:coreProperties>
</file>